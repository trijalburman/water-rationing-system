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64" r:id="rId2"/>
    <p:sldId id="265" r:id="rId3"/>
    <p:sldId id="266" r:id="rId4"/>
    <p:sldId id="267" r:id="rId5"/>
    <p:sldId id="268" r:id="rId6"/>
  </p:sldIdLst>
  <p:sldSz cx="9144000" cy="5143500" type="screen16x9"/>
  <p:notesSz cx="6881813" cy="9296400"/>
  <p:defaultTextStyle>
    <a:defPPr>
      <a:defRPr lang="en-US"/>
    </a:defPPr>
    <a:lvl1pPr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00"/>
    <a:srgbClr val="969696"/>
    <a:srgbClr val="C0C0C0"/>
    <a:srgbClr val="EE2E24"/>
    <a:srgbClr val="EE2C2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719" autoAdjust="0"/>
  </p:normalViewPr>
  <p:slideViewPr>
    <p:cSldViewPr snapToGrid="0">
      <p:cViewPr varScale="1">
        <p:scale>
          <a:sx n="150" d="100"/>
          <a:sy n="150" d="100"/>
        </p:scale>
        <p:origin x="222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330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330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fld id="{62544911-7972-461D-9CFB-67E6417998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0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330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2900" y="696913"/>
            <a:ext cx="61960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841" y="4415453"/>
            <a:ext cx="5506134" cy="418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330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fld id="{5F175A69-64E8-4A05-8A2C-3D4486AC7B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961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Stock_000017360118_XXXLarge_ppt 100 3i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" y="2390651"/>
            <a:ext cx="9144000" cy="2761488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32996" y="311007"/>
            <a:ext cx="5201161" cy="1805571"/>
          </a:xfrm>
        </p:spPr>
        <p:txBody>
          <a:bodyPr anchor="ctr" anchorCtr="0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29514" y="2625451"/>
            <a:ext cx="4634428" cy="390867"/>
          </a:xfrm>
        </p:spPr>
        <p:txBody>
          <a:bodyPr anchor="ctr" anchorCtr="0"/>
          <a:lstStyle>
            <a:lvl1pPr marL="0" indent="0">
              <a:buFont typeface="Wingdings" pitchFamily="-65" charset="2"/>
              <a:buNone/>
              <a:defRPr sz="2400" b="1"/>
            </a:lvl1pPr>
          </a:lstStyle>
          <a:p>
            <a:r>
              <a:rPr lang="en-US" dirty="0"/>
              <a:t>Presenter Name: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0" y="1"/>
            <a:ext cx="644526" cy="5166178"/>
          </a:xfrm>
          <a:prstGeom prst="rect">
            <a:avLst/>
          </a:prstGeom>
          <a:solidFill>
            <a:srgbClr val="EE2E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29514" y="3077343"/>
            <a:ext cx="4634427" cy="428625"/>
          </a:xfrm>
        </p:spPr>
        <p:txBody>
          <a:bodyPr anchor="ctr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Date: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940150" y="3559905"/>
            <a:ext cx="4634427" cy="318197"/>
          </a:xfrm>
        </p:spPr>
        <p:txBody>
          <a:bodyPr anchor="ctr" anchorCtr="0"/>
          <a:lstStyle>
            <a:lvl1pPr marL="0" indent="0">
              <a:buNone/>
              <a:defRPr sz="14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Data Classification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259" y="282808"/>
            <a:ext cx="6981488" cy="6679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514" y="1333500"/>
            <a:ext cx="7965823" cy="3341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259" y="282808"/>
            <a:ext cx="6981488" cy="6679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25514" y="1333500"/>
            <a:ext cx="3751261" cy="32695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895850" y="1333132"/>
            <a:ext cx="3995739" cy="32699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87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3259" y="1189101"/>
            <a:ext cx="7944516" cy="2206752"/>
          </a:xfrm>
        </p:spPr>
        <p:txBody>
          <a:bodyPr anchor="t" anchorCtr="0">
            <a:normAutofit/>
          </a:bodyPr>
          <a:lstStyle>
            <a:lvl1pPr>
              <a:defRPr sz="4000" b="0"/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63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536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7"/>
          <p:cNvSpPr>
            <a:spLocks noChangeArrowheads="1"/>
          </p:cNvSpPr>
          <p:nvPr/>
        </p:nvSpPr>
        <p:spPr bwMode="ltGray">
          <a:xfrm>
            <a:off x="0" y="-1"/>
            <a:ext cx="644526" cy="5143501"/>
          </a:xfrm>
          <a:prstGeom prst="rect">
            <a:avLst/>
          </a:prstGeom>
          <a:solidFill>
            <a:srgbClr val="EE2E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23259" y="282808"/>
            <a:ext cx="6993520" cy="6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5514" y="1333500"/>
            <a:ext cx="7965823" cy="3341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hf hd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31775" indent="-231775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Font typeface="Wingdings" pitchFamily="-65" charset="2"/>
        <a:buChar char="§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3363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Font typeface="Arial" charset="0"/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863600" indent="-169863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146175" indent="-168275" algn="l" rtl="0" eaLnBrk="1" fontAlgn="base" hangingPunct="1">
        <a:spcBef>
          <a:spcPct val="35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14414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5pPr>
      <a:lvl6pPr marL="18986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6pPr>
      <a:lvl7pPr marL="23558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7pPr>
      <a:lvl8pPr marL="28130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8pPr>
      <a:lvl9pPr marL="32702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 txBox="1">
            <a:spLocks/>
          </p:cNvSpPr>
          <p:nvPr/>
        </p:nvSpPr>
        <p:spPr>
          <a:xfrm>
            <a:off x="777766" y="4868863"/>
            <a:ext cx="8064084" cy="27463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140A"/>
              </a:buClr>
              <a:buSzTx/>
              <a:buFont typeface="Wingdings" pitchFamily="-65" charset="2"/>
              <a:buNone/>
              <a:tabLst/>
              <a:defRPr/>
            </a:pPr>
            <a:r>
              <a:rPr lang="en-US" sz="800" dirty="0"/>
              <a:t>Final Year BT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ech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E&amp;TC Progress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Review (II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 : 2023-27                                                                                                                                                       Semester: VII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F5F148-6268-05F3-F948-86307AB75A02}"/>
              </a:ext>
            </a:extLst>
          </p:cNvPr>
          <p:cNvSpPr txBox="1"/>
          <p:nvPr/>
        </p:nvSpPr>
        <p:spPr>
          <a:xfrm>
            <a:off x="640080" y="3200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rial"/>
              </a:defRPr>
            </a:pPr>
            <a:r>
              <a:t>AI-Powered Smart Water Management, Rationing, and Dual-Flow Leak Detection System</a:t>
            </a:r>
            <a:endParaRPr lang="en-IN" sz="2000" b="1" dirty="0"/>
          </a:p>
          <a:p>
            <a:pPr>
              <a:spcBef>
                <a:spcPts val="400"/>
              </a:spcBef>
              <a:defRPr sz="1300" b="0">
                <a:solidFill>
                  <a:srgbClr val="0F4C81"/>
                </a:solidFill>
                <a:latin typeface="Arial"/>
              </a:defRPr>
            </a:pPr>
            <a:r>
              <a:t>A Progress (Review-II) Presentation | Academic Year: 2026-27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B97CA94-E972-64A0-BC70-0947AED43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97566"/>
              </p:ext>
            </p:extLst>
          </p:nvPr>
        </p:nvGraphicFramePr>
        <p:xfrm>
          <a:off x="1097280" y="2057400"/>
          <a:ext cx="6949440" cy="149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990823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56818709"/>
                    </a:ext>
                  </a:extLst>
                </a:gridCol>
              </a:tblGrid>
              <a:tr h="29839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PRN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712334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23070123055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Gayatri Apotikar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2309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23070123058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Hardik Dhalla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879336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23070123102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Prashant Bajpai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295126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23070123145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Trijal Burman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38785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37F149E-0ACD-3BFE-9621-331FEFBBCF98}"/>
              </a:ext>
            </a:extLst>
          </p:cNvPr>
          <p:cNvSpPr txBox="1"/>
          <p:nvPr/>
        </p:nvSpPr>
        <p:spPr>
          <a:xfrm>
            <a:off x="640080" y="1691640"/>
            <a:ext cx="7863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1E1E"/>
                </a:solidFill>
                <a:latin typeface="Arial"/>
              </a:defRPr>
            </a:pPr>
            <a:r>
              <a:t>Group No.- E&amp;TC-14 | Department of Electronics and Telecommunication Engineering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9A6153-5151-FF79-F0A8-21FC3519AA27}"/>
              </a:ext>
            </a:extLst>
          </p:cNvPr>
          <p:cNvSpPr txBox="1"/>
          <p:nvPr/>
        </p:nvSpPr>
        <p:spPr>
          <a:xfrm>
            <a:off x="640080" y="3977639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  <a:latin typeface="Arial"/>
              </a:defRPr>
            </a:pPr>
            <a:r>
              <a:t>Under the Guidance of: Dr. D. Marshiana</a:t>
            </a:r>
            <a:endParaRPr lang="en-IN" dirty="0"/>
          </a:p>
          <a:p>
            <a:pPr>
              <a:defRPr sz="1100">
                <a:solidFill>
                  <a:srgbClr val="5A5A5A"/>
                </a:solidFill>
                <a:latin typeface="Arial"/>
              </a:defRPr>
            </a:pPr>
            <a:r>
              <a:t>Assistant Professor, Symbiosis Institute of Technology (SIT), Pune</a:t>
            </a:r>
          </a:p>
        </p:txBody>
      </p:sp>
    </p:spTree>
    <p:extLst>
      <p:ext uri="{BB962C8B-B14F-4D97-AF65-F5344CB8AC3E}">
        <p14:creationId xmlns:p14="http://schemas.microsoft.com/office/powerpoint/2010/main" val="174329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60773" y="4781443"/>
            <a:ext cx="764166" cy="268359"/>
          </a:xfrm>
        </p:spPr>
        <p:txBody>
          <a:bodyPr/>
          <a:lstStyle/>
          <a:p>
            <a:r>
              <a:rPr lang="en-US" dirty="0"/>
              <a:t>Slide #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1A48A-3779-DD74-A0DF-DC899527AB78}"/>
              </a:ext>
            </a:extLst>
          </p:cNvPr>
          <p:cNvSpPr txBox="1"/>
          <p:nvPr/>
        </p:nvSpPr>
        <p:spPr>
          <a:xfrm>
            <a:off x="640080" y="1371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800" b="1">
                <a:solidFill>
                  <a:srgbClr val="182B49"/>
                </a:solidFill>
                <a:latin typeface="Arial"/>
              </a:defRPr>
            </a:pPr>
            <a:r>
              <a:t>1. 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7863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Context &amp; Motivation: </a:t>
            </a:r>
            <a:r>
              <a:rPr sz="1100" b="0">
                <a:solidFill>
                  <a:srgbClr val="1E1E1E"/>
                </a:solidFill>
                <a:latin typeface="Arial"/>
              </a:rPr>
              <a:t>Urban multi-family residential complexes rely on gravity-fed overhead tanks with zero automated leak mitigation or closed-loop feedback, leading to chronic non-revenue water loss and premature reserve exhaustion.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Core Industry Challenges Addressed in Review-2: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Arial"/>
              </a:rPr>
              <a:t>• Sensor Corrosion in High-Humidity Tanks: </a:t>
            </a:r>
            <a:r>
              <a:rPr sz="1100" b="0">
                <a:solidFill>
                  <a:srgbClr val="1E1E1E"/>
                </a:solidFill>
                <a:latin typeface="Arial"/>
              </a:rPr>
              <a:t>Standard indoor ultrasonic sensors (HC-SR04) suffer severe condensation-induced acoustic attenuation and electrical failure inside enclosed overhead tanks.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Arial"/>
              </a:rPr>
              <a:t>• Undetected Concealed Pipe Fractures: </a:t>
            </a:r>
            <a:r>
              <a:rPr sz="1100" b="0">
                <a:solidFill>
                  <a:srgbClr val="1E1E1E"/>
                </a:solidFill>
                <a:latin typeface="Arial"/>
              </a:rPr>
              <a:t>Single-meter setups only track aggregate consumption and remain completely blind to pipe bursts occurring inside wall ducts between the riser shaft and apartment entries.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Arial"/>
              </a:rPr>
              <a:t>• Rigid All-or-Nothing Rationing: </a:t>
            </a:r>
            <a:r>
              <a:rPr sz="1100" b="0">
                <a:solidFill>
                  <a:srgbClr val="1E1E1E"/>
                </a:solidFill>
                <a:latin typeface="Arial"/>
              </a:rPr>
              <a:t>Conventional systems treat localized pipe leaks as whole-tank volumetric emergencies, shutting off water to an entire building when a leak is confined to a single apartment.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Review-2 Core Objectives &amp; Contributions: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1. Industrial Waterproof Acoustic Profiling: </a:t>
            </a:r>
            <a:r>
              <a:rPr sz="1100" b="0">
                <a:solidFill>
                  <a:srgbClr val="1E1E1E"/>
                </a:solidFill>
                <a:latin typeface="Arial"/>
              </a:rPr>
              <a:t>Deployed JSN-SR04T V3.0 (IP67) with 20 cm blind-zone calibration and median noise filtering for continuous tank depth measurement.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2. Dual-Flow Volumetric Balance: </a:t>
            </a:r>
            <a:r>
              <a:rPr sz="1100" b="0">
                <a:solidFill>
                  <a:srgbClr val="1E1E1E"/>
                </a:solidFill>
                <a:latin typeface="Arial"/>
              </a:rPr>
              <a:t>Engineered mass-balance leak detection (ΔQ = Qin − Qout) across concealed pipeline runs with a 3-cycle debouncing filter to eliminate water-hammer false alarms.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3. Decoupled Branch Actuation Policy: </a:t>
            </a:r>
            <a:r>
              <a:rPr sz="1100" b="0">
                <a:solidFill>
                  <a:srgbClr val="1E1E1E"/>
                </a:solidFill>
                <a:latin typeface="Arial"/>
              </a:rPr>
              <a:t>Decoupled central tank volumetric modes (NORMAL, WARNING, RATIONING, CRITICAL) from localized flat leak states (OK, SUSPECTED_LEAK, LEAK_ALERT).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4. Proportional 25% Throttling: </a:t>
            </a:r>
            <a:r>
              <a:rPr sz="1100" b="0">
                <a:solidFill>
                  <a:srgbClr val="1E1E1E"/>
                </a:solidFill>
                <a:latin typeface="Arial"/>
              </a:rPr>
              <a:t>Throttles the leaking flat valve to 25.0% to reduce line pressure and water loss by &gt;80%, while preserving emergency domestic hygiene and unpenalized supply to other flats.</a:t>
            </a:r>
          </a:p>
        </p:txBody>
      </p:sp>
    </p:spTree>
    <p:extLst>
      <p:ext uri="{BB962C8B-B14F-4D97-AF65-F5344CB8AC3E}">
        <p14:creationId xmlns:p14="http://schemas.microsoft.com/office/powerpoint/2010/main" val="412811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0AC29-930F-591F-D6FA-5DE1E1365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2B854-5B23-44A3-017C-2EF0A3CC1772}"/>
              </a:ext>
            </a:extLst>
          </p:cNvPr>
          <p:cNvSpPr txBox="1"/>
          <p:nvPr/>
        </p:nvSpPr>
        <p:spPr>
          <a:xfrm>
            <a:off x="640080" y="137160"/>
            <a:ext cx="291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rial"/>
              </a:defRPr>
            </a:pPr>
            <a:r>
              <a:t>2. Project Progress Till Date (Review-2)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685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1. Sensor Instrumentation &amp; Hardware Calibration: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JSN-SR04T V3.0 Ultrasonic: </a:t>
            </a:r>
            <a:r>
              <a:rPr sz="1100" b="0">
                <a:solidFill>
                  <a:srgbClr val="1E1E1E"/>
                </a:solidFill>
                <a:latin typeface="Arial"/>
              </a:rPr>
              <a:t>Non-contact continuous depth sensing (20–600 cm, 20 cm offset) with 5-sample median filtering for acoustic echo stability.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Dual YF-S201 Hall-Effect Meters: </a:t>
            </a:r>
            <a:r>
              <a:rPr sz="1100" b="0">
                <a:solidFill>
                  <a:srgbClr val="1E1E1E"/>
                </a:solidFill>
                <a:latin typeface="Arial"/>
              </a:rPr>
              <a:t>Riser inlet (Qin on GPIO 25) &amp; Flat entry (Qout on GPIO 32) conditioned via 1kΩ/2kΩ resistive voltage dividers into ESP32 hardware ISRs (IRAM_ATTR).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Actuators &amp; Safety: </a:t>
            </a:r>
            <a:r>
              <a:rPr sz="1100" b="0">
                <a:solidFill>
                  <a:srgbClr val="1E1E1E"/>
                </a:solidFill>
                <a:latin typeface="Arial"/>
              </a:rPr>
              <a:t>12V normally-closed solenoid valve via optocoupled relay + mechanical float switch failsafe on GPIO 33 for dry-run pump lockout.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2. Dual-Flow Leak Algorithm &amp; Debouncing: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Mass Conservation Principle: </a:t>
            </a:r>
            <a:r>
              <a:rPr sz="1100" b="0">
                <a:solidFill>
                  <a:srgbClr val="1E1E1E"/>
                </a:solidFill>
                <a:latin typeface="Arial"/>
              </a:rPr>
              <a:t>ΔQ = Qin − Qout. Dual-gate thresholds: ΔQ &gt; 0.3 L/min AND ΔQ &gt; 15% of Qin with minimum flow gate Qin &gt; 0.1 L/min.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3-Cycle Debouncing Filter: </a:t>
            </a:r>
            <a:r>
              <a:rPr sz="1100" b="0">
                <a:solidFill>
                  <a:srgbClr val="1E1E1E"/>
                </a:solidFill>
                <a:latin typeface="Arial"/>
              </a:rPr>
              <a:t>Cycle 1–2: SUSPECTED_LEAK (counter increments, no valve penalty). Cycle 3: LEAK_ALERT confirmed -&gt; flat valve throttled to 25.0%.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3. Decoupled Architecture &amp; Testing: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Decoupled Isolation: </a:t>
            </a:r>
            <a:r>
              <a:rPr sz="1100" b="0">
                <a:solidFill>
                  <a:srgbClr val="1E1E1E"/>
                </a:solidFill>
                <a:latin typeface="Arial"/>
              </a:rPr>
              <a:t>Central tank mode remains in volumetric mode (NORMAL/WARNING/RATIONING) without penalizing neighboring apartments.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100% Automated Test Coverage: </a:t>
            </a:r>
            <a:r>
              <a:rPr sz="1100" b="0">
                <a:solidFill>
                  <a:srgbClr val="1E1E1E"/>
                </a:solidFill>
                <a:latin typeface="Arial"/>
              </a:rPr>
              <a:t>9/9 unit tests passing (pytest) validating all state transitions, debouncing, branch throttling, critical reserve priority cutoff, and recovery.</a:t>
            </a:r>
          </a:p>
        </p:txBody>
      </p:sp>
      <p:pic>
        <p:nvPicPr>
          <p:cNvPr id="11" name="Picture 10" descr="media_1790235841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77240"/>
            <a:ext cx="3383280" cy="1903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39776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0F4C81"/>
                </a:solidFill>
                <a:latin typeface="Arial"/>
              </a:defRPr>
            </a:pPr>
            <a:r>
              <a:t>Live Grafana Flight Recorder: Independent Central Tank &amp; Flat 101 Status Banners alongside 4 Reserve Checkpoint Gauges (NORMAL 82%, WARNING 80%, RATIONING 24%, CRITICAL 8%).</a:t>
            </a:r>
          </a:p>
        </p:txBody>
      </p:sp>
    </p:spTree>
    <p:extLst>
      <p:ext uri="{BB962C8B-B14F-4D97-AF65-F5344CB8AC3E}">
        <p14:creationId xmlns:p14="http://schemas.microsoft.com/office/powerpoint/2010/main" val="81163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637E3-3082-0056-67BF-EA07ADCEC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55077-5CFF-9905-4FA5-A94E62651ED0}"/>
              </a:ext>
            </a:extLst>
          </p:cNvPr>
          <p:cNvSpPr txBox="1"/>
          <p:nvPr/>
        </p:nvSpPr>
        <p:spPr>
          <a:xfrm>
            <a:off x="640080" y="137160"/>
            <a:ext cx="4228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rial"/>
              </a:defRPr>
            </a:pPr>
            <a:r>
              <a:t>3. Methodology Overview &amp; Project Timeline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85800"/>
            <a:ext cx="7863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1. Cyber-Physical System Pipeline &amp; Closed-Loop Control Flow: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Hardware Sensing (ESP32): </a:t>
            </a:r>
            <a:r>
              <a:rPr sz="1100" b="0">
                <a:solidFill>
                  <a:srgbClr val="1E1E1E"/>
                </a:solidFill>
                <a:latin typeface="Arial"/>
              </a:rPr>
              <a:t>Continuous acoustic time-of-flight (JSN-SR04T) &amp; dual pulse ISRs (YF-S201). Offline failsafe autonomously throttles valve if connectivity is lost.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Message Broker (Eclipse Mosquitto): </a:t>
            </a:r>
            <a:r>
              <a:rPr sz="1100" b="0">
                <a:solidFill>
                  <a:srgbClr val="1E1E1E"/>
                </a:solidFill>
                <a:latin typeface="Arial"/>
              </a:rPr>
              <a:t>Lightweight MQTT pub/sub on port 1883 for low-latency bidirectional telemetry (watertank/+/telemetry) and actuator commands (watertank/+/command).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Analytical State-Machine (FastAPI): </a:t>
            </a:r>
            <a:r>
              <a:rPr sz="1100" b="0">
                <a:solidFill>
                  <a:srgbClr val="1E1E1E"/>
                </a:solidFill>
                <a:latin typeface="Arial"/>
              </a:rPr>
              <a:t>Calculates depletion ETA = Usable Volume / Predicted Flow. Determines Central Tank Mode &amp; evaluates per-flat volumetric balance.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• Time-Series Store &amp; Visualization: </a:t>
            </a:r>
            <a:r>
              <a:rPr sz="1100" b="0">
                <a:solidFill>
                  <a:srgbClr val="1E1E1E"/>
                </a:solidFill>
                <a:latin typeface="Arial"/>
              </a:rPr>
              <a:t>InfluxDB 2.7 records 12 telemetry fields and 6 tag keys. Grafana 11.4 displays real-time status banners, multi-gauge checkpoints, and dual flow curves.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2. Project Milestones &amp; Progress Roadmap: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5A5A5A"/>
                </a:solidFill>
                <a:latin typeface="Arial"/>
              </a:rPr>
              <a:t>• Review-1 (Completed): </a:t>
            </a:r>
            <a:r>
              <a:rPr sz="1100" b="0">
                <a:solidFill>
                  <a:srgbClr val="1E1E1E"/>
                </a:solidFill>
                <a:latin typeface="Arial"/>
              </a:rPr>
              <a:t>IoT telemetry baseline, single HC-SR04 + YF-S201, Docker Compose stack (Mosquitto, InfluxDB, FastAPI, Grafana), basic 5-mode state machine.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• Review-2 (Completed): </a:t>
            </a:r>
            <a:r>
              <a:rPr sz="1100" b="0">
                <a:solidFill>
                  <a:srgbClr val="1E1E1E"/>
                </a:solidFill>
                <a:latin typeface="Arial"/>
              </a:rPr>
              <a:t>JSN-SR04T V3.0 waterproof sensor, dual-flow leak detection (ΔQ), 3-cycle debounce filter, decoupled 25% valve throttling, Grafana flight recorder, 9/9 automated unit tests.</a:t>
            </a:r>
          </a:p>
          <a:p>
            <a:pPr lvl="1">
              <a:spcAft>
                <a:spcPts val="400"/>
              </a:spcAft>
            </a:pPr>
            <a:r>
              <a:rPr sz="1100" b="1">
                <a:solidFill>
                  <a:srgbClr val="0F4C81"/>
                </a:solidFill>
                <a:latin typeface="Arial"/>
              </a:rPr>
              <a:t>• Final Review Roadmap (Planned): </a:t>
            </a:r>
            <a:r>
              <a:rPr sz="1100" b="0">
                <a:solidFill>
                  <a:srgbClr val="1E1E1E"/>
                </a:solidFill>
                <a:latin typeface="Arial"/>
              </a:rPr>
              <a:t/>
            </a:r>
          </a:p>
          <a:p>
            <a:pPr lvl="2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  (a) Predictive ML Demand Forecasting: </a:t>
            </a:r>
            <a:r>
              <a:rPr sz="1100" b="0">
                <a:solidFill>
                  <a:srgbClr val="1E1E1E"/>
                </a:solidFill>
                <a:latin typeface="Arial"/>
              </a:rPr>
              <a:t>Train LSTM / Facebook Prophet models on InfluxDB historical consumption for 24-hour demand projection.</a:t>
            </a:r>
          </a:p>
          <a:p>
            <a:pPr lvl="2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  (b) Multi-Tenant Bench Expansion: </a:t>
            </a:r>
            <a:r>
              <a:rPr sz="1100" b="0">
                <a:solidFill>
                  <a:srgbClr val="1E1E1E"/>
                </a:solidFill>
                <a:latin typeface="Arial"/>
              </a:rPr>
              <a:t>Scale hardware bench to multiplex 3 independent flat branches with individual motorized valves.</a:t>
            </a:r>
          </a:p>
          <a:p>
            <a:pPr lvl="2">
              <a:spcAft>
                <a:spcPts val="400"/>
              </a:spcAft>
            </a:pPr>
            <a:r>
              <a:rPr sz="1100" b="1">
                <a:solidFill>
                  <a:srgbClr val="182B49"/>
                </a:solidFill>
                <a:latin typeface="Arial"/>
              </a:rPr>
              <a:t>  (c) Cloud &amp; Mobile Alert Gateway: </a:t>
            </a:r>
            <a:r>
              <a:rPr sz="1100" b="0">
                <a:solidFill>
                  <a:srgbClr val="1E1E1E"/>
                </a:solidFill>
                <a:latin typeface="Arial"/>
              </a:rPr>
              <a:t>Deploy AWS IoT Core with X.509 certificates and launch Flutter/React Native resident alert portal with Telegram push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426922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85866-C3D7-488B-FB8B-0FE4C7121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4E11B-4D78-271A-35A0-09BFE16A76FF}"/>
              </a:ext>
            </a:extLst>
          </p:cNvPr>
          <p:cNvSpPr txBox="1"/>
          <p:nvPr/>
        </p:nvSpPr>
        <p:spPr>
          <a:xfrm>
            <a:off x="640080" y="137160"/>
            <a:ext cx="1487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rial"/>
              </a:defRPr>
            </a:pPr>
            <a:r>
              <a:t>4. References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85800"/>
            <a:ext cx="7863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[1] S. Rajeswari, K. Suthendran, and K. Rajakumar, 'IoT Based Smart Water Monitoring System,' International Journal of Engineering and Technology, vol. 11, no. 3, pp. 248–255, 2019.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[2] A. Kumar and R. Singh, 'Automated Water Rationing System Using Arduino and GSM,' International Journal of Advanced Research in Computer and Communication Engineering, vol. 9, no. 6, pp. 112–117, 2020.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[3] R. Patel, S. Varma, and M. Dave, 'Smart Water Management with LoRaWAN and MQTT,' IEEE Internet of Things Journal, vol. 8, no. 14, pp. 11420–11431, 2021.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[4] X. Chen, Y. Liu, and H. Wang, 'LSTM-Based Urban Water Demand Forecasting Under Climate Uncertainty,' Water Resources Research, vol. 58, no. 4, e2021WR031200, 2022.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[5] P. Sharma, V. K. Gupta, and N. Kumar, 'Real-Time Water Level Monitoring Using ESP8266 and Cloud IoT,' IOSR Journal of Electronics and Communication Engineering, vol. 18, no. 2, pp. 45–52, 2023.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[6] M. Gonzalez, D. Martinez, and J. Lopez, 'InfluxDB and Grafana for Industrial IoT Monitoring: Architecture and Benchmarking,' in Proc. IEEE Industrial Electronics Conference (IECON), Singapore, 2023, pp. 1–6.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[7] Y. Zhao, L. Zhang, and T. Brown, 'Edge AI for Anomaly Detection in Smart Water Networks,' in Proc. ACM Conference on Embedded Networked Sensor Systems (SenSys), 2024, pp. 312–325.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[8] United Nations World Water Assessment Programme, 'The United Nations World Water Development Report 2023: Partnerships and Cooperation for Water,' UNESCO, Paris, 2023.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[9] Espressif Systems, 'ESP32 Series Datasheet and Hardware Technical Reference Manual,' Version 5.0, 2023.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Arial"/>
              </a:defRPr>
            </a:pPr>
            <a:r>
              <a:t>[10] InfluxData Inc., 'InfluxDB 2.7 Documentation and Flux Query Language Reference,' 2024. [Online]. Available: https://docs.influxdata.com/influxdb/v2.7/</a:t>
            </a:r>
          </a:p>
        </p:txBody>
      </p:sp>
    </p:spTree>
    <p:extLst>
      <p:ext uri="{BB962C8B-B14F-4D97-AF65-F5344CB8AC3E}">
        <p14:creationId xmlns:p14="http://schemas.microsoft.com/office/powerpoint/2010/main" val="2308095449"/>
      </p:ext>
    </p:extLst>
  </p:cSld>
  <p:clrMapOvr>
    <a:masterClrMapping/>
  </p:clrMapOvr>
</p:sld>
</file>

<file path=ppt/theme/theme1.xml><?xml version="1.0" encoding="utf-8"?>
<a:theme xmlns:a="http://schemas.openxmlformats.org/drawingml/2006/main" name="Cummins Corporate 3_100 dpi">
  <a:themeElements>
    <a:clrScheme name="Custom Design 14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EE2E24"/>
      </a:accent1>
      <a:accent2>
        <a:srgbClr val="5F5F5F"/>
      </a:accent2>
      <a:accent3>
        <a:srgbClr val="FFFFFF"/>
      </a:accent3>
      <a:accent4>
        <a:srgbClr val="000000"/>
      </a:accent4>
      <a:accent5>
        <a:srgbClr val="F5ADAC"/>
      </a:accent5>
      <a:accent6>
        <a:srgbClr val="555555"/>
      </a:accent6>
      <a:hlink>
        <a:srgbClr val="C0C0C0"/>
      </a:hlink>
      <a:folHlink>
        <a:srgbClr val="CC33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12700" cap="flat" cmpd="sng" algn="ctr">
          <a:solidFill>
            <a:srgbClr val="EE2E24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91440" rIns="91440" bIns="91440" numCol="1" anchor="ctr" anchorCtr="0" compatLnSpc="1">
        <a:prstTxWarp prst="textNoShape">
          <a:avLst/>
        </a:prstTxWarp>
      </a:bodyPr>
      <a:lstStyle>
        <a:defPPr marL="231775" marR="0" indent="-231775" algn="r" defTabSz="914400" rtl="0" eaLnBrk="1" fontAlgn="base" latinLnBrk="0" hangingPunct="1">
          <a:lnSpc>
            <a:spcPct val="100000"/>
          </a:lnSpc>
          <a:spcBef>
            <a:spcPct val="35000"/>
          </a:spcBef>
          <a:spcAft>
            <a:spcPct val="0"/>
          </a:spcAft>
          <a:buClr>
            <a:srgbClr val="FF140A"/>
          </a:buClr>
          <a:buSzTx/>
          <a:buFont typeface="Wingdings" pitchFamily="-65" charset="2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12700" cap="flat" cmpd="sng" algn="ctr">
          <a:solidFill>
            <a:srgbClr val="EE2E24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91440" rIns="91440" bIns="91440" numCol="1" anchor="ctr" anchorCtr="0" compatLnSpc="1">
        <a:prstTxWarp prst="textNoShape">
          <a:avLst/>
        </a:prstTxWarp>
      </a:bodyPr>
      <a:lstStyle>
        <a:defPPr marL="231775" marR="0" indent="-231775" algn="r" defTabSz="914400" rtl="0" eaLnBrk="1" fontAlgn="base" latinLnBrk="0" hangingPunct="1">
          <a:lnSpc>
            <a:spcPct val="100000"/>
          </a:lnSpc>
          <a:spcBef>
            <a:spcPct val="35000"/>
          </a:spcBef>
          <a:spcAft>
            <a:spcPct val="0"/>
          </a:spcAft>
          <a:buClr>
            <a:srgbClr val="FF140A"/>
          </a:buClr>
          <a:buSzTx/>
          <a:buFont typeface="Wingdings" pitchFamily="-65" charset="2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EE2E24"/>
        </a:accent1>
        <a:accent2>
          <a:srgbClr val="0066CC"/>
        </a:accent2>
        <a:accent3>
          <a:srgbClr val="FFFFFF"/>
        </a:accent3>
        <a:accent4>
          <a:srgbClr val="000000"/>
        </a:accent4>
        <a:accent5>
          <a:srgbClr val="F5ADAC"/>
        </a:accent5>
        <a:accent6>
          <a:srgbClr val="005CB9"/>
        </a:accent6>
        <a:hlink>
          <a:srgbClr val="FA9900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EE2E24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5ADAC"/>
        </a:accent5>
        <a:accent6>
          <a:srgbClr val="555555"/>
        </a:accent6>
        <a:hlink>
          <a:srgbClr val="C0C0C0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496AB529-0EF3-40F1-8730-CDEAA205FAC9}" vid="{BA0C11BB-D4BF-495C-B23D-BB431CB4857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Cummins Corporate</Template>
  <TotalTime>356</TotalTime>
  <Words>47</Words>
  <Application>Microsoft Office PowerPoint</Application>
  <PresentationFormat>On-screen Show (16:9)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Wingdings</vt:lpstr>
      <vt:lpstr>Cummins Corporate 3_100 dpi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Cummins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Pickup Unit</dc:title>
  <dc:creator>Tanaya Tavade</dc:creator>
  <cp:lastModifiedBy>Paresh Nasikkar</cp:lastModifiedBy>
  <cp:revision>94</cp:revision>
  <cp:lastPrinted>2014-07-02T14:37:49Z</cp:lastPrinted>
  <dcterms:created xsi:type="dcterms:W3CDTF">2017-01-16T03:08:26Z</dcterms:created>
  <dcterms:modified xsi:type="dcterms:W3CDTF">2026-09-18T09:03:39Z</dcterms:modified>
</cp:coreProperties>
</file>